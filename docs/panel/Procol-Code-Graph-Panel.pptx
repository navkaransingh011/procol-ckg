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822960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8B8BF0"/>
                </a:solidFill>
                <a:latin typeface="Helvetica Neue"/>
              </a:rPr>
              <a:t>PROCOL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0" i="0">
                <a:solidFill>
                  <a:srgbClr val="F5F5F8"/>
                </a:solidFill>
                <a:latin typeface="Georgia"/>
              </a:rPr>
              <a:t>Ask the codebase.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A3A4AD"/>
                </a:solidFill>
                <a:latin typeface="Helvetica Neue"/>
              </a:rPr>
              <a:t>A knowledge graph and AI agent over Procol's code, documents and live platform configuration, built so CS, product and engineers get answers that name their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D6E78"/>
                </a:solidFill>
                <a:latin typeface="Helvetica Neue"/>
              </a:rPr>
              <a:t>Panel review · 17 September 2026 · numbers measured on the working database on 16 Sep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Platform knowledge lives in five places; questions land on engineers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Where the truth is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Three repositories. </a:t>
            </a:r>
            <a:r>
              <a:rPr sz="1400">
                <a:solidFill>
                  <a:srgbClr val="16161A"/>
                </a:solidFill>
                <a:latin typeface="Helvetica Neue"/>
              </a:rPr>
              <a:t>Rails backend, buyer dashboard, supplier bidding app, each on several tenant branches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Guides and PRDs </a:t>
            </a:r>
            <a:r>
              <a:rPr sz="1400">
                <a:solidFill>
                  <a:srgbClr val="16161A"/>
                </a:solidFill>
                <a:latin typeface="Helvetica Neue"/>
              </a:rPr>
              <a:t>in Notion, Drive and people's heads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Configuration </a:t>
            </a:r>
            <a:r>
              <a:rPr sz="1400">
                <a:solidFill>
                  <a:srgbClr val="16161A"/>
                </a:solidFill>
                <a:latin typeface="Helvetica Neue"/>
              </a:rPr>
              <a:t>in the platform database: 435 company-level switches, 19,544 active overrides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Screens and clicks </a:t>
            </a:r>
            <a:r>
              <a:rPr sz="1400">
                <a:solidFill>
                  <a:srgbClr val="16161A"/>
                </a:solidFill>
                <a:latin typeface="Helvetica Neue"/>
              </a:rPr>
              <a:t>only in the React code, never written down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Tribal memory </a:t>
            </a:r>
            <a:r>
              <a:rPr sz="1400">
                <a:solidFill>
                  <a:srgbClr val="16161A"/>
                </a:solidFill>
                <a:latin typeface="Helvetica Neue"/>
              </a:rPr>
              <a:t>of who built 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What that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88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CS waits on engineers </a:t>
            </a:r>
            <a:r>
              <a:rPr sz="1400">
                <a:solidFill>
                  <a:srgbClr val="16161A"/>
                </a:solidFill>
                <a:latin typeface="Helvetica Neue"/>
              </a:rPr>
              <a:t>for 'what does this setting do for Reliance'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Engineers context-switch </a:t>
            </a:r>
            <a:r>
              <a:rPr sz="1400">
                <a:solidFill>
                  <a:srgbClr val="16161A"/>
                </a:solidFill>
                <a:latin typeface="Helvetica Neue"/>
              </a:rPr>
              <a:t>to answer the same questions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Generic assistants guess. </a:t>
            </a:r>
            <a:r>
              <a:rPr sz="1400">
                <a:solidFill>
                  <a:srgbClr val="16161A"/>
                </a:solidFill>
                <a:latin typeface="Helvetica Neue"/>
              </a:rPr>
              <a:t>They cannot see our code, our configs or our branches, and they do not say when they are wrong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400">
                <a:solidFill>
                  <a:srgbClr val="16161A"/>
                </a:solidFill>
                <a:latin typeface="Helvetica Neue"/>
              </a:rPr>
              <a:t>Nobody can say </a:t>
            </a:r>
            <a:r>
              <a:rPr sz="1400">
                <a:solidFill>
                  <a:srgbClr val="16161A"/>
                </a:solidFill>
                <a:latin typeface="Helvetica Neue"/>
              </a:rPr>
              <a:t>which branch, which tenant, which environment an answer applies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Numbers on this slide come from the UAT mirror on 16 Sep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One graph, one database, one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148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9A9BA3"/>
                </a:solidFill>
                <a:latin typeface="Helvetica Neue"/>
              </a:rPr>
              <a:t>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14884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56232"/>
            <a:ext cx="2148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procol-backend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67128"/>
            <a:ext cx="2148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Rails · 3 branches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9192"/>
            <a:ext cx="214884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52344"/>
            <a:ext cx="2148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2148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React · buyer + supplier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75304"/>
            <a:ext cx="214884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48456"/>
            <a:ext cx="2148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59352"/>
            <a:ext cx="2148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16 guides uploaded, 158 in-repo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71416"/>
            <a:ext cx="2148840" cy="786384"/>
          </a:xfrm>
          <a:prstGeom prst="roundRect">
            <a:avLst>
              <a:gd name="adj" fmla="val 11627"/>
            </a:avLst>
          </a:prstGeom>
          <a:solidFill>
            <a:srgbClr val="E6F4F2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44568"/>
            <a:ext cx="2148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Helvetica Neue"/>
              </a:rPr>
              <a:t>UAT platform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55464"/>
            <a:ext cx="2148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12 tables, read-only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1481328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9A9BA3"/>
                </a:solidFill>
                <a:latin typeface="Helvetica Neue"/>
              </a:rPr>
              <a:t>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1783080"/>
            <a:ext cx="228600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1856232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7 extractors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2167128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Ruby AST, routes, schema, FE calls, screens, docs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2679192"/>
            <a:ext cx="228600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2752344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Indexer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06324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per commit, append-only, cached by blob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54680" y="3575304"/>
            <a:ext cx="228600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3648456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959352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local model, 74,261 vectors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4680" y="4471416"/>
            <a:ext cx="228600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4544568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Poller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855464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every 60 s, SELECT-only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1481328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9A9BA3"/>
                </a:solidFill>
                <a:latin typeface="Helvetica Neue"/>
              </a:rPr>
              <a:t>ONE POSTGRES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1783080"/>
            <a:ext cx="2286000" cy="3474720"/>
          </a:xfrm>
          <a:prstGeom prst="roundRect">
            <a:avLst>
              <a:gd name="adj" fmla="val 5600"/>
            </a:avLst>
          </a:prstGeom>
          <a:solidFill>
            <a:srgbClr val="EE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1892808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5B5BD6"/>
                </a:solidFill>
                <a:latin typeface="Helvetica Neue"/>
              </a:rPr>
              <a:t>Knowledge graph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8" y="2286000"/>
            <a:ext cx="210312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050">
                <a:solidFill>
                  <a:srgbClr val="16161A"/>
                </a:solidFill>
                <a:latin typeface="Helvetica Neue"/>
              </a:rPr>
              <a:t>83,911 facts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050">
                <a:solidFill>
                  <a:srgbClr val="16161A"/>
                </a:solidFill>
                <a:latin typeface="Helvetica Neue"/>
              </a:rPr>
              <a:t>208,399 relationships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050">
                <a:solidFill>
                  <a:srgbClr val="16161A"/>
                </a:solidFill>
                <a:latin typeface="Helvetica Neue"/>
              </a:rPr>
              <a:t>9 branches · 3 repos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050">
                <a:solidFill>
                  <a:srgbClr val="16161A"/>
                </a:solidFill>
                <a:latin typeface="Helvetica Neue"/>
              </a:rPr>
              <a:t>334,139 live rows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050">
                <a:solidFill>
                  <a:srgbClr val="16161A"/>
                </a:solidFill>
                <a:latin typeface="Helvetica Neue"/>
              </a:rPr>
              <a:t>681 MB in Postgres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050">
                <a:solidFill>
                  <a:srgbClr val="16161A"/>
                </a:solidFill>
                <a:latin typeface="Helvetica Neue"/>
              </a:rPr>
              <a:t>no source leaves the VM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9A9BA3"/>
                </a:solidFill>
                <a:latin typeface="Helvetica Neue"/>
              </a:rPr>
              <a:t>AGENT &amp; PEOPLE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1783080"/>
            <a:ext cx="3017520" cy="786384"/>
          </a:xfrm>
          <a:prstGeom prst="roundRect">
            <a:avLst>
              <a:gd name="adj" fmla="val 11627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1856232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Agent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2167128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E4E4FB"/>
                </a:solidFill>
                <a:latin typeface="Helvetica Neue"/>
              </a:rPr>
              <a:t>planner · parallel retrieval · writer · guards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41080" y="2679192"/>
            <a:ext cx="301752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2752344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Web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306324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chats, cards, tables, diagrams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3575304"/>
            <a:ext cx="301752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3648456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Roles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3959352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cs · product · qa · engineer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4471416"/>
            <a:ext cx="301752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1080" y="4544568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6161A"/>
                </a:solidFill>
                <a:latin typeface="Helvetica Neue"/>
              </a:rPr>
              <a:t>Audit 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4855464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9A9BA3"/>
                </a:solidFill>
                <a:latin typeface="Helvetica Neue"/>
              </a:rPr>
              <a:t>who asked what, 47 questions so far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697480" y="3392424"/>
            <a:ext cx="457200" cy="0"/>
          </a:xfrm>
          <a:prstGeom prst="line">
            <a:avLst/>
          </a:prstGeom>
          <a:ln w="19050">
            <a:solidFill>
              <a:srgbClr val="9A9B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440680" y="3392424"/>
            <a:ext cx="457200" cy="0"/>
          </a:xfrm>
          <a:prstGeom prst="line">
            <a:avLst/>
          </a:prstGeom>
          <a:ln w="19050">
            <a:solidFill>
              <a:srgbClr val="9A9B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183880" y="3392424"/>
            <a:ext cx="457200" cy="0"/>
          </a:xfrm>
          <a:prstGeom prst="line">
            <a:avLst/>
          </a:prstGeom>
          <a:ln w="19050">
            <a:solidFill>
              <a:srgbClr val="9A9B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Everything runs on one GCP VM: Node service, Postgres with pgvector, nginx. The model is reached through Procol's Slingring gateway; embeddings are computed locally.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The graph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83,911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facts (entities)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classes, methods, routes, tables, screens, buttons,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32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20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208,399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20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relationships (edges)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0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declares, serves, targets, navigates, owns, mentions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88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88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deployed branches indexed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88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3 repos · production, UAT, Reliance, RFX QA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96%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parse cache hit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a re-index of the backend: 6,436 files in 1.65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832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120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120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front-end API calls matched to a backend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120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371 of 422 endpoints; 51 dead calls found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088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088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embedding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88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every branch, every document passage, every switch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Measured with SQL against the working database on 16 Sep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THREE LAYERS ON EVERY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Code, documents and live configuration, searched together by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15360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3241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Code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24104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24,025 Ruby symbols on the backend UAT branch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1,699 routes · 804 handlers · 165 tables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711 dashboard API call sites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123 screens · 509 buttons and steps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98% of handlers bridged to their Ruby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320" y="1600200"/>
            <a:ext cx="3515360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575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200" y="1709928"/>
            <a:ext cx="3241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480" y="2057400"/>
            <a:ext cx="324104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174 document nodes, 2,073 passages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16 uploaded guides (~31,500 words)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683 code mentions linked from in-repo docs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Answers say agree / conflict / not visible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0 PRDs attached to commits so far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600200"/>
            <a:ext cx="3515360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543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880" y="1709928"/>
            <a:ext cx="3241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Live platform mirror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5160" y="2057400"/>
            <a:ext cx="324104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12 tables, 112 allow-listed columns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334,139 rows, refreshed every 60 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502 switches and 28,015 rows indexed by meaning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Read-only session + SELECT-only guard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UAT only; production is not mirrored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Every question runs semantic search over all three layers before the planner decides what to fetch.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HOW INDEXING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Git already fingerprints every file; we use that as the cache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The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Content-addressed. </a:t>
            </a:r>
            <a:r>
              <a:rPr sz="1300">
                <a:solidFill>
                  <a:srgbClr val="16161A"/>
                </a:solidFill>
                <a:latin typeface="Helvetica Neue"/>
              </a:rPr>
              <a:t>Each file's blob SHA keys its parsed facts; an unchanged file is never parsed twice, across branches and commits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Per commit. </a:t>
            </a:r>
            <a:r>
              <a:rPr sz="1300">
                <a:solidFill>
                  <a:srgbClr val="16161A"/>
                </a:solidFill>
                <a:latin typeface="Helvetica Neue"/>
              </a:rPr>
              <a:t>Entities and edges are rows under the exact commit, so 'on RIL prod' and 'on UAT' are different, exact questions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Append-only. </a:t>
            </a:r>
            <a:r>
              <a:rPr sz="1300">
                <a:solidFill>
                  <a:srgbClr val="16161A"/>
                </a:solidFill>
                <a:latin typeface="Helvetica Neue"/>
              </a:rPr>
              <a:t>A new commit inserts; it never updates or deletes older rows. History is what remains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Deployed branches only. </a:t>
            </a:r>
            <a:r>
              <a:rPr sz="1300">
                <a:solidFill>
                  <a:srgbClr val="16161A"/>
                </a:solidFill>
                <a:latin typeface="Helvetica Neue"/>
              </a:rPr>
              <a:t>config/refs.json lists nine refs; the other ~2,100 branches never enter the graph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Self-contained. </a:t>
            </a:r>
            <a:r>
              <a:rPr sz="1300">
                <a:solidFill>
                  <a:srgbClr val="16161A"/>
                </a:solidFill>
                <a:latin typeface="Helvetica Neue"/>
              </a:rPr>
              <a:t>10,658 source blobs (2.17 M lines) are stored in Postgres, so answering needs no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What it buys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88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Speed: </a:t>
            </a:r>
            <a:r>
              <a:rPr sz="1300">
                <a:solidFill>
                  <a:srgbClr val="16161A"/>
                </a:solidFill>
                <a:latin typeface="Helvetica Neue"/>
              </a:rPr>
              <a:t>96% cache hit on backfill; a full re-index of the backend in 1.65 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Storage: </a:t>
            </a:r>
            <a:r>
              <a:rPr sz="1300">
                <a:solidFill>
                  <a:srgbClr val="16161A"/>
                </a:solidFill>
                <a:latin typeface="Helvetica Neue"/>
              </a:rPr>
              <a:t>28,352 file instances across 14 commits collapse to 11,020 distinct blobs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Safety: </a:t>
            </a:r>
            <a:r>
              <a:rPr sz="1300">
                <a:solidFill>
                  <a:srgbClr val="16161A"/>
                </a:solidFill>
                <a:latin typeface="Helvetica Neue"/>
              </a:rPr>
              <a:t>secrets paths are dropped before any read; the model's DB role is SELECT-only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Cross-repo joins: </a:t>
            </a:r>
            <a:r>
              <a:rPr sz="1300">
                <a:solidFill>
                  <a:srgbClr val="16161A"/>
                </a:solidFill>
                <a:latin typeface="Helvetica Neue"/>
              </a:rPr>
              <a:t>shared endpoint nodes connect a dashboard call to the Rails action that serves it, no resolver pass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BRANCHES IN THE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Nine deployed branches, each answerable on its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2377440"/>
                <a:gridCol w="1554480"/>
                <a:gridCol w="20116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Repository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Branch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Tenant · environment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Facts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Note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procol-backend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main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shared · production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26,773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bootstrap import + extractors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procol-backend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main-uat-test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shared · UAT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26,807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fully extractor-generated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procol-backend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reliance-main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RIL · production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18,857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re-indexed with the AST extractor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procol-client-dashboard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main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 · production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1,347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screens and clicks included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procol-client-dashboard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fe-main-uat-test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 ·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1,363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procol-client-dashboard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rfx-qa-main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 · QA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708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procol-client-dashboard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reliance-main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RIL · production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597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procol-client-dashboard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ril-dev-final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RIL · dev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599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web-bidding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main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Procol · production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supplier app; no screen layer yet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Five older dashboard branches were removed from the graph this week at the team's request. Adding a branch is a config edit plus one indexing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WHAT WE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Seven extractors turn source into 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383280"/>
                <a:gridCol w="237744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Extractor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Produces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Count (current branches)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Quality / limits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be-ast (Ruby)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classes, modules, methods, associations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24,025 symbols (UAT backend)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5,450 files via real AST, 41 via regex fallback, 0 failures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be-routes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routes and the handlers that serve them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1,699 routes · 804 handlers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expands Rails DSL without booting Rails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be-schema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database tables and columns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165 tables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from db/schema.rb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be-external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third-party services and gems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39 services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hosts and config keys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fe-http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dashboard API call sites → endpoints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711 call sites, 486 resolved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regex based: 31.6% unresolved (bare identifiers)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fe-screens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screens, buttons, steps, navigation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123 screens · 509 actions · 195 links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labels from en.json; runtime-built labels invisible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docs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document nodes, passages, code mentions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174 documents · 2,073 passages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headings drive chunking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Bumping an extractor's version re-parses every file it handles on the next run; nothing else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HOW AN ANSWER IS 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The service finds the facts; the model only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5824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15824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50" b="1" i="0">
                <a:solidFill>
                  <a:srgbClr val="16161A"/>
                </a:solidFill>
                <a:latin typeface="Helvetica Neue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6738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C5D66"/>
                </a:solidFill>
                <a:latin typeface="Helvetica Neue"/>
              </a:rPr>
              <a:t>typed by anyone; role and chat history come from the session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1060" y="2240280"/>
            <a:ext cx="320040" cy="0"/>
          </a:xfrm>
          <a:prstGeom prst="line">
            <a:avLst/>
          </a:prstGeom>
          <a:ln w="19050">
            <a:solidFill>
              <a:srgbClr val="9A9B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1100" y="1828800"/>
            <a:ext cx="15824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1100" y="1938528"/>
            <a:ext cx="15824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50" b="1" i="0">
                <a:solidFill>
                  <a:srgbClr val="16161A"/>
                </a:solidFill>
                <a:latin typeface="Helvetica Neue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1100" y="2286000"/>
            <a:ext cx="15824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9A9BA3"/>
                </a:solidFill>
                <a:latin typeface="Helvetica Neue"/>
              </a:rPr>
              <a:t>0–3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5380" y="2788920"/>
            <a:ext cx="16738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C5D66"/>
                </a:solidFill>
                <a:latin typeface="Helvetica Neue"/>
              </a:rPr>
              <a:t>follow-ups rewritten into standalone questions; semantic candidates from all three layers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33520" y="2240280"/>
            <a:ext cx="320040" cy="0"/>
          </a:xfrm>
          <a:prstGeom prst="line">
            <a:avLst/>
          </a:prstGeom>
          <a:ln w="19050">
            <a:solidFill>
              <a:srgbClr val="9A9B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53560" y="1828800"/>
            <a:ext cx="15824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3560" y="1938528"/>
            <a:ext cx="15824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50" b="1" i="0">
                <a:solidFill>
                  <a:srgbClr val="16161A"/>
                </a:solidFill>
                <a:latin typeface="Helvetica Neue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3560" y="2286000"/>
            <a:ext cx="15824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9A9BA3"/>
                </a:solidFill>
                <a:latin typeface="Helvetica Neue"/>
              </a:rPr>
              <a:t>1–3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7840" y="2788920"/>
            <a:ext cx="16738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C5D66"/>
                </a:solidFill>
                <a:latin typeface="Helvetica Neue"/>
              </a:rPr>
              <a:t>the model lists lookups, live queries and greps as JSON; the service runs them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35980" y="2240280"/>
            <a:ext cx="320040" cy="0"/>
          </a:xfrm>
          <a:prstGeom prst="line">
            <a:avLst/>
          </a:prstGeom>
          <a:ln w="19050">
            <a:solidFill>
              <a:srgbClr val="9A9B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56020" y="1828800"/>
            <a:ext cx="1582420" cy="822960"/>
          </a:xfrm>
          <a:prstGeom prst="roundRect">
            <a:avLst>
              <a:gd name="adj" fmla="val 13333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6020" y="1938528"/>
            <a:ext cx="15824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6020" y="2286000"/>
            <a:ext cx="15824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D8D8F8"/>
                </a:solidFill>
                <a:latin typeface="Helvetica Neue"/>
              </a:rPr>
              <a:t>~0.2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0300" y="2788920"/>
            <a:ext cx="16738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C5D66"/>
                </a:solidFill>
                <a:latin typeface="Helvetica Neue"/>
              </a:rPr>
              <a:t>graph lookups, document passages, live rows, screen journeys, source lines, all in parallel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38440" y="2240280"/>
            <a:ext cx="320040" cy="0"/>
          </a:xfrm>
          <a:prstGeom prst="line">
            <a:avLst/>
          </a:prstGeom>
          <a:ln w="19050">
            <a:solidFill>
              <a:srgbClr val="9A9B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58480" y="1828800"/>
            <a:ext cx="15824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8480" y="1938528"/>
            <a:ext cx="15824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50" b="1" i="0">
                <a:solidFill>
                  <a:srgbClr val="16161A"/>
                </a:solidFill>
                <a:latin typeface="Helvetica Neue"/>
              </a:rPr>
              <a:t>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8480" y="2286000"/>
            <a:ext cx="15824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9A9BA3"/>
                </a:solidFill>
                <a:latin typeface="Helvetica Neue"/>
              </a:rPr>
              <a:t>3–25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2760" y="2788920"/>
            <a:ext cx="16738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C5D66"/>
                </a:solidFill>
                <a:latin typeface="Helvetica Neue"/>
              </a:rPr>
              <a:t>the model writes from the facts JSON only, in the role's language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40900" y="2240280"/>
            <a:ext cx="320040" cy="0"/>
          </a:xfrm>
          <a:prstGeom prst="line">
            <a:avLst/>
          </a:prstGeom>
          <a:ln w="19050">
            <a:solidFill>
              <a:srgbClr val="9A9B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60940" y="1828800"/>
            <a:ext cx="15824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60940" y="1938528"/>
            <a:ext cx="15824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50" b="1" i="0">
                <a:solidFill>
                  <a:srgbClr val="16161A"/>
                </a:solidFill>
                <a:latin typeface="Helvetica Neue"/>
              </a:rPr>
              <a:t>Guard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5220" y="2788920"/>
            <a:ext cx="16738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C5D66"/>
                </a:solidFill>
                <a:latin typeface="Helvetica Neue"/>
              </a:rPr>
              <a:t>paths not in the facts are removed; role filter on every event; complete tables shown as tables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5B5BD6"/>
                </a:solidFill>
                <a:latin typeface="Helvetica Neue"/>
              </a:rPr>
              <a:t>Measured on the last 41 uncached questions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81728"/>
            <a:ext cx="1097280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p50 11.6 s, p90 23.7 s, </a:t>
            </a:r>
            <a:r>
              <a:rPr sz="1200">
                <a:solidFill>
                  <a:srgbClr val="16161A"/>
                </a:solidFill>
                <a:latin typeface="Helvetica Neue"/>
              </a:rPr>
              <a:t>max 34.2 s; cached replays answer in 3–7 ms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Resilience: </a:t>
            </a:r>
            <a:r>
              <a:rPr sz="1200">
                <a:solidFill>
                  <a:srgbClr val="16161A"/>
                </a:solidFill>
                <a:latin typeface="Helvetica Neue"/>
              </a:rPr>
              <a:t>streaming with a 12 s first-token deadline, a hedged fallback model, a circuit breaker and retries, because the shared gateway stalls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HONESTY IS ENGINEERED, NOT PROMPTED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What stops the agent from making things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47548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Exists</a:t>
            </a:r>
          </a:p>
        </p:txBody>
      </p:sp>
      <p:sp>
        <p:nvSpPr>
          <p:cNvPr id="10" name="Oval 9"/>
          <p:cNvSpPr/>
          <p:nvPr/>
        </p:nvSpPr>
        <p:spPr>
          <a:xfrm>
            <a:off x="9464040" y="475488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Partial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0" y="475488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8019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Not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Mechanisms in the service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0208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3852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Any file path the model names that was not in its facts is replaced before display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55117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68880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'The graph does not show…' is a first-class answer; unresolved hops are listed, never hidden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08152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99232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Complete result sets are rendered as tables; the prose may only summarise them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61188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9584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Workflow diagram steps must reference facts the model was given, or they are dropped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1422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59936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Triage verdicts are limited to the set the facts allow; others are downgraded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67258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9028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Every answer ends with the exact commits it was read 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Measured</a:t>
            </a:r>
          </a:p>
        </p:txBody>
      </p:sp>
      <p:sp>
        <p:nvSpPr>
          <p:cNvPr id="28" name="Oval 27"/>
          <p:cNvSpPr/>
          <p:nvPr/>
        </p:nvSpPr>
        <p:spPr>
          <a:xfrm>
            <a:off x="6278880" y="20208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480" y="193852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Eval: 7 of 7 scored questions cite a real file, invent no path and name the branch</a:t>
            </a:r>
          </a:p>
        </p:txBody>
      </p:sp>
      <p:sp>
        <p:nvSpPr>
          <p:cNvPr id="30" name="Oval 29"/>
          <p:cNvSpPr/>
          <p:nvPr/>
        </p:nvSpPr>
        <p:spPr>
          <a:xfrm>
            <a:off x="6278880" y="255117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7480" y="2468880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5 of 5 saved CS answers contain zero code names, paths or code events</a:t>
            </a:r>
          </a:p>
        </p:txBody>
      </p:sp>
      <p:sp>
        <p:nvSpPr>
          <p:cNvPr id="32" name="Oval 31"/>
          <p:cNvSpPr/>
          <p:nvPr/>
        </p:nvSpPr>
        <p:spPr>
          <a:xfrm>
            <a:off x="6278880" y="3081528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480" y="2999232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Path guard applies to plan and triage answers; the sub-second guided path relies on its narrower prompt</a:t>
            </a:r>
          </a:p>
        </p:txBody>
      </p:sp>
      <p:sp>
        <p:nvSpPr>
          <p:cNvPr id="34" name="Oval 33"/>
          <p:cNvSpPr/>
          <p:nvPr/>
        </p:nvSpPr>
        <p:spPr>
          <a:xfrm>
            <a:off x="6278880" y="3611880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7480" y="3529584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No judge-based scoring of answer quality yet; the eval checks honesty properties, not correctness</a:t>
            </a:r>
          </a:p>
        </p:txBody>
      </p:sp>
      <p:sp>
        <p:nvSpPr>
          <p:cNvPr id="36" name="Oval 35"/>
          <p:cNvSpPr/>
          <p:nvPr/>
        </p:nvSpPr>
        <p:spPr>
          <a:xfrm>
            <a:off x="6278880" y="4142232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7480" y="4059936"/>
            <a:ext cx="5135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Neither tests nor eval run in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Honesty properties are properties of the code path, so they hold for any model behind the gateway.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LIVE PLATFORM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A read-only mirror of the UAT platform, one minute behind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15360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3241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What is mirrored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24104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companies, master and custom configurations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templates with their full widget layout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approval flows and conditions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flexi datasources and fields, procol variables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12 tables · 112 columns · 334,139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320" y="1600200"/>
            <a:ext cx="3515360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575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200" y="1709928"/>
            <a:ext cx="3241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How it stays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480" y="2057400"/>
            <a:ext cx="324104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Connection opens with read-only transactions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A guard rejects anything but SELECT (11 forbidden statements tested)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Column allow-list; no contact or billing data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'Change this config' is impossible, not discouraged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The agent refuses and says 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600200"/>
            <a:ext cx="3515360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543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880" y="1709928"/>
            <a:ext cx="3241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What it is not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5160" y="2057400"/>
            <a:ext cx="324104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UAT, not production: values can differ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Read-only is enforced by the app, not by a DB role on the UAT side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No alert when the mirror goes stale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Freshness shown as 'as of' on every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Ask for a SELECT-only database role on UAT and a production read replica; both are configuration, not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SIGN-IN AND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Same question, four answers: the role decides what is shown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  <a:gridCol w="1737360"/>
                <a:gridCol w="1737360"/>
                <a:gridCol w="2194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B5BD6"/>
                          </a:solidFill>
                          <a:latin typeface="Helvetica Neue"/>
                        </a:rPr>
                        <a:t>Layer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B5BD6"/>
                          </a:solidFill>
                          <a:latin typeface="Helvetica Neue"/>
                        </a:rPr>
                        <a:t>CS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B5BD6"/>
                          </a:solidFill>
                          <a:latin typeface="Helvetica Neue"/>
                        </a:rPr>
                        <a:t>Product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B5BD6"/>
                          </a:solidFill>
                          <a:latin typeface="Helvetica Neue"/>
                        </a:rPr>
                        <a:t>QA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B5BD6"/>
                          </a:solidFill>
                          <a:latin typeface="Helvetica Neue"/>
                        </a:rPr>
                        <a:t>Engineer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Guides, PRDs, live configuration, templates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Endpoints and routes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Class, method, model names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names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File paths and line numbers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Source snippets, grep, read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Branches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main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main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all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61A"/>
                          </a:solidFill>
                          <a:latin typeface="Helvetica Neue"/>
                        </a:rPr>
                        <a:t>all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Enforced at retrieval (restricted roles never read source), on the facts handed to the model, on every streamed event, and in the answer cache key. Email + password sign-in with scrypt hashes; role changes apply on the next request; every question is logged with email and role. Google SSO was removed pending a hostname with TLS.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PRODUCT-FACING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Not just prose: the objects people actually work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567940" cy="4480560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22936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Template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29362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Drawn with the platform sheet's own measurements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4,792 of 5,341 templates drawable (89.7%)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Sheets, RFI forms and field maps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Real labels, units, required marks; sample values illustrative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900" y="1600200"/>
            <a:ext cx="2567940" cy="4480560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833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780" y="1709928"/>
            <a:ext cx="22936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Workflow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8060" y="2057400"/>
            <a:ext cx="229362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Beside the answer for 'how does X work'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Steps in product language, actors coloured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Every step validated against the facts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Walks itself once, then follows the reader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600200"/>
            <a:ext cx="2567940" cy="4480560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059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6040" y="1709928"/>
            <a:ext cx="22936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Journeys as screens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320" y="2057400"/>
            <a:ext cx="229362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Purchase Requisition → New Event → Awarding → PO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From the dashboard's own navigation code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195 screen links; the click is known for 11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Supplier app has no screen layer yet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5420" y="1600200"/>
            <a:ext cx="2567940" cy="4480560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285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8300" y="1709928"/>
            <a:ext cx="22936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Complete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2057400"/>
            <a:ext cx="229362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'List all X' returns every row, up to 500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Columns follow the question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Stamped with the mirror's time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00">
                <a:solidFill>
                  <a:srgbClr val="16161A"/>
                </a:solidFill>
                <a:latin typeface="Helvetica Neue"/>
              </a:rPr>
              <a:t>Copy as TSV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THE SCREEN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Screens and clicks are facts in the graph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dashboard screens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from the route table, with breadcrumbs and permissions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32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20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509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20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buttons, steps, tabs, dialogs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0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labels resolved from the translation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88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195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88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screen-to-screen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88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184 between screens, 11 tied to the button that triggers them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22.5%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API call sites attached to a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the rest sit in the Redux layer, which has no extractor yet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832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120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120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screens with no known link in or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120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navigation computed at runtime is invisible to a regex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088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088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supplier-app screens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88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web-bidding uses a different structure; not extracted yet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Kept current with every index run; a Redux/state extractor is the next step to lift the 22.5%.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SAVED CHATS AND FOLLOW-UPS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Conversations are personal, replayable and understood in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Saved per person. </a:t>
            </a:r>
            <a:r>
              <a:rPr sz="1300">
                <a:solidFill>
                  <a:srgbClr val="16161A"/>
                </a:solidFill>
                <a:latin typeface="Helvetica Neue"/>
              </a:rPr>
              <a:t>Every turn is stored with its event stream gzipped (4.4× smaller measured); reopening redraws prose, trace, tables, template and diagram exactly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Follow-ups understood. </a:t>
            </a:r>
            <a:r>
              <a:rPr sz="1300">
                <a:solidFill>
                  <a:srgbClr val="16161A"/>
                </a:solidFill>
                <a:latin typeface="Helvetica Neue"/>
              </a:rPr>
              <a:t>'And for Reliance?' is rewritten into a standalone question from the last six turns, at minimal model effort; the person sees 'understood as'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Context, not evidence. </a:t>
            </a:r>
            <a:r>
              <a:rPr sz="1300">
                <a:solidFill>
                  <a:srgbClr val="16161A"/>
                </a:solidFill>
                <a:latin typeface="Helvetica Neue"/>
              </a:rPr>
              <a:t>The writer is told the conversation may explain what the person means, never serve as a fact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Retention. </a:t>
            </a:r>
            <a:r>
              <a:rPr sz="1300">
                <a:solidFill>
                  <a:srgbClr val="16161A"/>
                </a:solidFill>
                <a:latin typeface="Helvetica Neue"/>
              </a:rPr>
              <a:t>Replay events are pruned after 180 days; question and answer text stay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Ask again. </a:t>
            </a:r>
            <a:r>
              <a:rPr sz="1300">
                <a:solidFill>
                  <a:srgbClr val="16161A"/>
                </a:solidFill>
                <a:latin typeface="Helvetica Neue"/>
              </a:rPr>
              <a:t>A saved answer is a snapshot; one click re-runs it against today's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Not yet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88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No shared chat links; </a:t>
            </a:r>
            <a:r>
              <a:rPr sz="1300">
                <a:solidFill>
                  <a:srgbClr val="16161A"/>
                </a:solidFill>
                <a:latin typeface="Helvetica Neue"/>
              </a:rPr>
              <a:t>chats are strictly personal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Replay is not re-filtered </a:t>
            </a:r>
            <a:r>
              <a:rPr sz="1300">
                <a:solidFill>
                  <a:srgbClr val="16161A"/>
                </a:solidFill>
                <a:latin typeface="Helvetica Neue"/>
              </a:rPr>
              <a:t>if a person's role changes later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No self-service password reset, </a:t>
            </a:r>
            <a:r>
              <a:rPr sz="1300">
                <a:solidFill>
                  <a:srgbClr val="16161A"/>
                </a:solidFill>
                <a:latin typeface="Helvetica Neue"/>
              </a:rPr>
              <a:t>no admin UI for accounts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9 chats, 10 turns </a:t>
            </a:r>
            <a:r>
              <a:rPr sz="1300">
                <a:solidFill>
                  <a:srgbClr val="16161A"/>
                </a:solidFill>
                <a:latin typeface="Helvetica Neue"/>
              </a:rPr>
              <a:t>so far: usage is days old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TWO CS-SHAPED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Per-customer configuration and ticket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410200" cy="44805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5135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What is on for Reliance?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3588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Resolves a customer's switches exactly as the platform does: default ← company master ← active override (rule taken from the Rails model)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435 global switches, 19,544 active overrides across 16,291 companies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Names repeat (two 'RELIANCE INDUSTRIES LIMITED'), so company ids are always shown and agreement vs difference is separated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Reverse direction: which companies have X on, with the same precedence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160" y="1600200"/>
            <a:ext cx="5410200" cy="44805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0592" y="1728216"/>
            <a:ext cx="45720" cy="422452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6040" y="1709928"/>
            <a:ext cx="5135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6161A"/>
                </a:solidFill>
                <a:latin typeface="Helvetica Neue"/>
              </a:rPr>
              <a:t>Ticket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320" y="2057400"/>
            <a:ext cx="513588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Paste a complaint → customer, likely feature with confidence, governing switches with effective values, guides, screens, owners from commit history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Verdict: CS can resolve · needs a config change · needs engineering · need more information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The verdict is chosen only from the set the facts allow; a switch at its default proves nothing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5B5BD6"/>
                </a:solidFill>
                <a:latin typeface="Helvetica Neue"/>
              </a:rPr>
              <a:t>• </a:t>
            </a:r>
            <a:r>
              <a:rPr sz="1150">
                <a:solidFill>
                  <a:srgbClr val="16161A"/>
                </a:solidFill>
                <a:latin typeface="Helvetica Neue"/>
              </a:rPr>
              <a:t>Accuracy unmeasured: 3 written examples (2 of 3 as expected); needs 20 real anonymised tickets; HubSpot lookup not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Both read the UAT mirror; production values must be confirmed until a production replica exists.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LATENCY AND ACCURACY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Fast enough to use; honest by construction; not yet fully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11.6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median answer, uncached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p90 23.7 s · max 34.2 s · n = 41 real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32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20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3–7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20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cached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0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cache keyed by question, role and commits; live-data answers expire after 1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60020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880" y="173736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7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880" y="235000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honesty checks passed in the 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880" y="263347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cites a real file, no invented paths, names the branch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7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plain-English questions anchored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planner + semantic candidates; 0 / 8 by name alone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832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120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120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real questions asked so far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120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5 people, 14–16 Sep; 46 answered without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0" y="3246120"/>
            <a:ext cx="35153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0880" y="3383280"/>
            <a:ext cx="314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Helvetica Neue"/>
              </a:rPr>
              <a:t>2 /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0880" y="3995928"/>
            <a:ext cx="31496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6161A"/>
                </a:solidFill>
                <a:latin typeface="Helvetica Neue"/>
              </a:rPr>
              <a:t>triage examples as expected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880" y="4279392"/>
            <a:ext cx="31496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A9BA3"/>
                </a:solidFill>
                <a:latin typeface="Helvetica Neue"/>
              </a:rPr>
              <a:t>written examples, not real tickets; unmeasured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The eval set is 8 engineer-shaped questions; there are none yet for CS journeys, templates, configuration or follow-ups.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DEPLOYMENT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One VM: the agent deploys on merge, the graph is still indexed by 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18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47548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Exists</a:t>
            </a:r>
          </a:p>
        </p:txBody>
      </p:sp>
      <p:sp>
        <p:nvSpPr>
          <p:cNvPr id="10" name="Oval 9"/>
          <p:cNvSpPr/>
          <p:nvPr/>
        </p:nvSpPr>
        <p:spPr>
          <a:xfrm>
            <a:off x="9464040" y="475488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Partial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0" y="475488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8019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Not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Running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0208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38528"/>
            <a:ext cx="5135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GCP VM (Debian, Postgres 17 + pgvector, nginx → Node service) with systemd units for the agent and the live poller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75234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670048"/>
            <a:ext cx="5135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Merge to main deploys the agent: pull, build, migrate, restart, health check, roll back on failure (WIF + IAP, no keys)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48386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0156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67 tests in 17 files pass; migrations 001–019 chained in one command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0142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Bootstrap database dump in the repo; teammate runbooks for VM load and update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54456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62272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Business documents in the repo are re-ingested on every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Not yet</a:t>
            </a:r>
          </a:p>
        </p:txBody>
      </p:sp>
      <p:sp>
        <p:nvSpPr>
          <p:cNvPr id="26" name="Oval 25"/>
          <p:cNvSpPr/>
          <p:nvPr/>
        </p:nvSpPr>
        <p:spPr>
          <a:xfrm>
            <a:off x="6278880" y="2020824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480" y="1938528"/>
            <a:ext cx="5135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Push-model indexing on merge (bundle → HMAC endpoint → index, embed, gc) is built and documented but has not indexed anything yet</a:t>
            </a:r>
          </a:p>
        </p:txBody>
      </p:sp>
      <p:sp>
        <p:nvSpPr>
          <p:cNvPr id="28" name="Oval 27"/>
          <p:cNvSpPr/>
          <p:nvPr/>
        </p:nvSpPr>
        <p:spPr>
          <a:xfrm>
            <a:off x="6278880" y="2752344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480" y="267004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VM indexing of new commits is still a manual command; so is embedding after it</a:t>
            </a:r>
          </a:p>
        </p:txBody>
      </p:sp>
      <p:sp>
        <p:nvSpPr>
          <p:cNvPr id="30" name="Oval 29"/>
          <p:cNvSpPr/>
          <p:nvPr/>
        </p:nvSpPr>
        <p:spPr>
          <a:xfrm>
            <a:off x="6278880" y="3282696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7480" y="3200400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No monitoring, alerting or scheduled backups; chat backup is a documented command</a:t>
            </a:r>
          </a:p>
        </p:txBody>
      </p:sp>
      <p:sp>
        <p:nvSpPr>
          <p:cNvPr id="32" name="Oval 31"/>
          <p:cNvSpPr/>
          <p:nvPr/>
        </p:nvSpPr>
        <p:spPr>
          <a:xfrm>
            <a:off x="6278880" y="3813048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480" y="3730752"/>
            <a:ext cx="5135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Tests and eval do not run in CI</a:t>
            </a:r>
          </a:p>
        </p:txBody>
      </p:sp>
      <p:sp>
        <p:nvSpPr>
          <p:cNvPr id="34" name="Oval 33"/>
          <p:cNvSpPr/>
          <p:nvPr/>
        </p:nvSpPr>
        <p:spPr>
          <a:xfrm>
            <a:off x="6278880" y="4142232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7480" y="4059936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6161A"/>
                </a:solidFill>
                <a:latin typeface="Helvetica Neue"/>
              </a:rPr>
              <a:t>Runtime call evidence needs a tracer harness that lives outside this repo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Six questions, one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As Customer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1. </a:t>
            </a:r>
            <a:r>
              <a:rPr sz="1300">
                <a:solidFill>
                  <a:srgbClr val="16161A"/>
                </a:solidFill>
                <a:latin typeface="Helvetica Neue"/>
              </a:rPr>
              <a:t>"Which master configs are on by default?" → complete table of 78 rows, plain-English summary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2. </a:t>
            </a:r>
            <a:r>
              <a:rPr sz="1300">
                <a:solidFill>
                  <a:srgbClr val="16161A"/>
                </a:solidFill>
                <a:latin typeface="Helvetica Neue"/>
              </a:rPr>
              <a:t>"And which of those are switched off for Reliance?" → understood as a standalone question; per-company effective values with ids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3. </a:t>
            </a:r>
            <a:r>
              <a:rPr sz="1300">
                <a:solidFill>
                  <a:srgbClr val="16161A"/>
                </a:solidFill>
                <a:latin typeface="Helvetica Neue"/>
              </a:rPr>
              <a:t>"Walk me through the buyer journey from a purchase request to the PO" → screens and clicks from the code, workflow diagram beside it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4. </a:t>
            </a:r>
            <a:r>
              <a:rPr sz="1300">
                <a:solidFill>
                  <a:srgbClr val="16161A"/>
                </a:solidFill>
                <a:latin typeface="Helvetica Neue"/>
              </a:rPr>
              <a:t>Paste a ticket → triage card: customer, feature, switches, guide, owner,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As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88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5. </a:t>
            </a:r>
            <a:r>
              <a:rPr sz="1300">
                <a:solidFill>
                  <a:srgbClr val="16161A"/>
                </a:solidFill>
                <a:latin typeface="Helvetica Neue"/>
              </a:rPr>
              <a:t>"What happens when GET /activity_logs is called?" → controller, serializer, files and lines, trace graph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6. </a:t>
            </a:r>
            <a:r>
              <a:rPr sz="1300">
                <a:solidFill>
                  <a:srgbClr val="16161A"/>
                </a:solidFill>
                <a:latin typeface="Helvetica Neue"/>
              </a:rPr>
              <a:t>"Show me the RFQ Template - Materials used by GMMCO" → the template drawn as the platform draws it, columns and price components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Then </a:t>
            </a:r>
            <a:r>
              <a:rPr sz="1300">
                <a:solidFill>
                  <a:srgbClr val="16161A"/>
                </a:solidFill>
                <a:latin typeface="Helvetica Neue"/>
              </a:rPr>
              <a:t>sign out and sign in as CS to show the same template question with no code anywhere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Every demo answer is reproducible on the laptop; latency is 5–15 s for plain questions and 15–30 s for technical ones when the gateway is healthy.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5BD6"/>
                </a:solidFill>
                <a:latin typeface="Helvetica Neue"/>
              </a:rPr>
              <a:t>THE HONEST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0" i="0">
                <a:solidFill>
                  <a:srgbClr val="16161A"/>
                </a:solidFill>
                <a:latin typeface="Georgia"/>
              </a:rPr>
              <a:t>What does not exist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C5D66"/>
                </a:solidFill>
                <a:latin typeface="Helvetica Neue"/>
              </a:rPr>
              <a:t>Two slides of gaps, ordered by how much they limit the answers, each verified by reading the code and the database on 16 September.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GAPS · DATA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What the graph cannot see or do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21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47548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Exists</a:t>
            </a:r>
          </a:p>
        </p:txBody>
      </p:sp>
      <p:sp>
        <p:nvSpPr>
          <p:cNvPr id="10" name="Oval 9"/>
          <p:cNvSpPr/>
          <p:nvPr/>
        </p:nvSpPr>
        <p:spPr>
          <a:xfrm>
            <a:off x="9464040" y="475488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Partial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0" y="475488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8019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Not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Coverage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020824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3852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Production data: every live value is UAT; a production read replica does not exist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551176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68880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Front-end parser is regex based: 31.6% of API call sites unresolved; a Babel-based extractor is the fix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081528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99232"/>
            <a:ext cx="5135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Redux/state layer, component tree, background jobs, config-key reads and model→table edges have no extractor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813048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5135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Backend production branch is still the bootstrap import; FEATURE, PERSON and OWNS layers are not re-derived by the indexer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544568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62272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Runtime 'A actually calls B' evidence cannot be refreshed for new commits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074920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92624"/>
            <a:ext cx="5135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Supplier app (web-bidding) has no screen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Documents and freshness</a:t>
            </a:r>
          </a:p>
        </p:txBody>
      </p:sp>
      <p:sp>
        <p:nvSpPr>
          <p:cNvPr id="28" name="Oval 27"/>
          <p:cNvSpPr/>
          <p:nvPr/>
        </p:nvSpPr>
        <p:spPr>
          <a:xfrm>
            <a:off x="6278880" y="2020824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480" y="193852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Zero PRDs attached to commits; the PR-body ingestion job and the PR template are not adopted</a:t>
            </a:r>
          </a:p>
        </p:txBody>
      </p:sp>
      <p:sp>
        <p:nvSpPr>
          <p:cNvPr id="30" name="Oval 29"/>
          <p:cNvSpPr/>
          <p:nvPr/>
        </p:nvSpPr>
        <p:spPr>
          <a:xfrm>
            <a:off x="6278880" y="2551176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7480" y="2468880"/>
            <a:ext cx="5135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16 uploaded guides; the journeys people ask about need about fifty; none of them link to code by identifier yet</a:t>
            </a:r>
          </a:p>
        </p:txBody>
      </p:sp>
      <p:sp>
        <p:nvSpPr>
          <p:cNvPr id="32" name="Oval 31"/>
          <p:cNvSpPr/>
          <p:nvPr/>
        </p:nvSpPr>
        <p:spPr>
          <a:xfrm>
            <a:off x="6278880" y="3282696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480" y="3200400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Notion, Drive and Confluence connectors; no upload button in the UI</a:t>
            </a:r>
          </a:p>
        </p:txBody>
      </p:sp>
      <p:sp>
        <p:nvSpPr>
          <p:cNvPr id="34" name="Oval 33"/>
          <p:cNvSpPr/>
          <p:nvPr/>
        </p:nvSpPr>
        <p:spPr>
          <a:xfrm>
            <a:off x="6278880" y="3813048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7480" y="3730752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Indexing on merge is not live; the VM graph lags until someone runs a command</a:t>
            </a:r>
          </a:p>
        </p:txBody>
      </p:sp>
      <p:sp>
        <p:nvSpPr>
          <p:cNvPr id="36" name="Oval 35"/>
          <p:cNvSpPr/>
          <p:nvPr/>
        </p:nvSpPr>
        <p:spPr>
          <a:xfrm>
            <a:off x="6278880" y="4343400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7480" y="4261104"/>
            <a:ext cx="5135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No alert when the mirror or the graph goes stale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GAPS · PRODUCT, QUALITY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What users will notice, and what a reviewer should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22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47548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Exists</a:t>
            </a:r>
          </a:p>
        </p:txBody>
      </p:sp>
      <p:sp>
        <p:nvSpPr>
          <p:cNvPr id="10" name="Oval 9"/>
          <p:cNvSpPr/>
          <p:nvPr/>
        </p:nvSpPr>
        <p:spPr>
          <a:xfrm>
            <a:off x="9464040" y="475488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Partial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0" y="475488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80192" y="41148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C5D66"/>
                </a:solidFill>
                <a:latin typeface="Helvetica Neue"/>
              </a:rPr>
              <a:t>Not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Product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020824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3852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HubSpot: no ticket lookup by number, no write-back; triage is paste-only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551176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68880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Template preview is our drawing with the platform's measurements, not the dashboard's own renderer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081528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99232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Workflow diagrams are model-authored then validated; no deterministic diagram from graph data alone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611880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9584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No Slack or Teams entry point; no shared chat links; no admin UI for accounts and roles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142232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59936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No self-service password reset; Google SSO removed until a hostname with TLS exists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Quality and operations</a:t>
            </a:r>
          </a:p>
        </p:txBody>
      </p:sp>
      <p:sp>
        <p:nvSpPr>
          <p:cNvPr id="26" name="Oval 25"/>
          <p:cNvSpPr/>
          <p:nvPr/>
        </p:nvSpPr>
        <p:spPr>
          <a:xfrm>
            <a:off x="6278880" y="2020824"/>
            <a:ext cx="118872" cy="11887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480" y="1938528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Triage accuracy unmeasured; feedback votes are stored but nothing reads them yet</a:t>
            </a:r>
          </a:p>
        </p:txBody>
      </p:sp>
      <p:sp>
        <p:nvSpPr>
          <p:cNvPr id="28" name="Oval 27"/>
          <p:cNvSpPr/>
          <p:nvPr/>
        </p:nvSpPr>
        <p:spPr>
          <a:xfrm>
            <a:off x="6278880" y="2551176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480" y="2468880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Eval covers 8 engineer questions and honesty only; no CS, template, config or follow-up cases; no CI gate</a:t>
            </a:r>
          </a:p>
        </p:txBody>
      </p:sp>
      <p:sp>
        <p:nvSpPr>
          <p:cNvPr id="30" name="Oval 29"/>
          <p:cNvSpPr/>
          <p:nvPr/>
        </p:nvSpPr>
        <p:spPr>
          <a:xfrm>
            <a:off x="6278880" y="3081528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7480" y="2999232"/>
            <a:ext cx="5135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Answer quality depends on FAST_SMALLER through a gateway that stalls; the fallback covers stalls, not quality</a:t>
            </a:r>
          </a:p>
        </p:txBody>
      </p:sp>
      <p:sp>
        <p:nvSpPr>
          <p:cNvPr id="32" name="Oval 31"/>
          <p:cNvSpPr/>
          <p:nvPr/>
        </p:nvSpPr>
        <p:spPr>
          <a:xfrm>
            <a:off x="6278880" y="381304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480" y="3730752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Fixed this week: the model's SQL role could read chats and sessions; revoked in migration 019</a:t>
            </a:r>
          </a:p>
        </p:txBody>
      </p:sp>
      <p:sp>
        <p:nvSpPr>
          <p:cNvPr id="34" name="Oval 33"/>
          <p:cNvSpPr/>
          <p:nvPr/>
        </p:nvSpPr>
        <p:spPr>
          <a:xfrm>
            <a:off x="6278880" y="4343400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7480" y="4261104"/>
            <a:ext cx="513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6161A"/>
                </a:solidFill>
                <a:latin typeface="Helvetica Neue"/>
              </a:rPr>
              <a:t>Saved-chat replay is not re-filtered when a role changes; the final summary event is unfiltered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Everything on these two slides was found by auditing the repository and database, not by recollection.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Risks and how each is held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3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023360"/>
                <a:gridCol w="374903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Risk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Why it matters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Mitigation in place / proposed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Answers about UAT presented as production truth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CS tickets are about production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Every live value is stamped UAT; proposed: production read replica, one config change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Model quality and gateway stalls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Prose quality and 12 s stall penalties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Hedged fallback, breaker, retries; proposed: stronger primary model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Graph lags the code on the VM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Answers drift after merges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Push-model indexing exists, needs first exercise; until then a runbook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Regex parsers miss code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31.6% of FE calls unresolved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Babel extractor; version bump re-parses everything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Feature ranking in triage misfires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Wrong owner or feature on a card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Verdict gating, 👍/👎 feedback, calibration on 20 real tickets before trust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Security of the model's DB access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Planner-written SQL runs as a DB role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SELECT-only role; sensitive tables revoked (019); 5 s statement timeout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Single VM, single person knows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Availability and bus factor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Runbooks in docs/; proposed: backups schedule and a second maintainer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Next six weeks, in the order that unblocks the most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4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206240"/>
                <a:gridCol w="3017520"/>
                <a:gridCol w="265176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Week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Why now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Needs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Exercise push indexing on merge; eval set for CS, templates, configs, follow-ups; tests + eval in CI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Stops drift and makes every later change measurable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VM access, 1 engineer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Production read replica or mirror; staleness alerts; SELECT-only UAT role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CS questions are about production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DBA, one config change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2–3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Twenty anonymised tickets → triage calibration; HubSpot read-only lookup by number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Turns triage from plausible into measured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HubSpot admin token, CS 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3–4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Babel front-end extractor; Redux/state extractor; supplier-app screens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Lifts 31.6% unresolved calls and 22.5% screen coverage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1 engineer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4–5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Five journey guides written by CS/Product; PR template adopted in the three repos; PR-body PRD ingestion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Documents are the fastest accuracy lever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Product + CS authors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5–6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Slack entry point; admin UI for roles; password reset; Google SSO once a hostname exists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Adoption and hygiene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DNS + TLS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What we need from the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Production access, read-only. </a:t>
            </a:r>
            <a:r>
              <a:rPr sz="1300">
                <a:solidFill>
                  <a:srgbClr val="16161A"/>
                </a:solidFill>
                <a:latin typeface="Helvetica Neue"/>
              </a:rPr>
              <a:t>A read replica or a SELECT-only role, so CS answers stop being UAT answers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Model. </a:t>
            </a:r>
            <a:r>
              <a:rPr sz="1300">
                <a:solidFill>
                  <a:srgbClr val="16161A"/>
                </a:solidFill>
                <a:latin typeface="Helvetica Neue"/>
              </a:rPr>
              <a:t>Permission to use a stronger primary model through Slingring; the fallback already exists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Hostname and TLS </a:t>
            </a:r>
            <a:r>
              <a:rPr sz="1300">
                <a:solidFill>
                  <a:srgbClr val="16161A"/>
                </a:solidFill>
                <a:latin typeface="Helvetica Neue"/>
              </a:rPr>
              <a:t>for the VM, which unlocks Google sign-in and a shareable URL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Scope call: </a:t>
            </a:r>
            <a:r>
              <a:rPr sz="1300">
                <a:solidFill>
                  <a:srgbClr val="16161A"/>
                </a:solidFill>
                <a:latin typeface="Helvetica Neue"/>
              </a:rPr>
              <a:t>should the supplier app and the flexi modules be in the graph in this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People and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88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Twenty closed tickets, </a:t>
            </a:r>
            <a:r>
              <a:rPr sz="1300">
                <a:solidFill>
                  <a:srgbClr val="16161A"/>
                </a:solidFill>
                <a:latin typeface="Helvetica Neue"/>
              </a:rPr>
              <a:t>anonymised, with their real outcome, for triage calibration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A HubSpot admin </a:t>
            </a:r>
            <a:r>
              <a:rPr sz="1300">
                <a:solidFill>
                  <a:srgbClr val="16161A"/>
                </a:solidFill>
                <a:latin typeface="Helvetica Neue"/>
              </a:rPr>
              <a:t>to create a read-only private app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Five journey guides </a:t>
            </a:r>
            <a:r>
              <a:rPr sz="1300">
                <a:solidFill>
                  <a:srgbClr val="16161A"/>
                </a:solidFill>
                <a:latin typeface="Helvetica Neue"/>
              </a:rPr>
              <a:t>from CS and Product, one page each, in screen language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300">
                <a:solidFill>
                  <a:srgbClr val="16161A"/>
                </a:solidFill>
                <a:latin typeface="Helvetica Neue"/>
              </a:rPr>
              <a:t>A second maintainer </a:t>
            </a:r>
            <a:r>
              <a:rPr sz="1300">
                <a:solidFill>
                  <a:srgbClr val="16161A"/>
                </a:solidFill>
                <a:latin typeface="Helvetica Neue"/>
              </a:rPr>
              <a:t>on the VM and the indexing runbooks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0" i="0">
                <a:solidFill>
                  <a:srgbClr val="F5F5F8"/>
                </a:solidFill>
                <a:latin typeface="Georgia"/>
              </a:rPr>
              <a:t>“Every answer names the file, the guide or the live row that proves it, and says so when it cannot tell.”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A3A4AD"/>
                </a:solidFill>
                <a:latin typeface="Helvetica Neue"/>
              </a:rPr>
              <a:t>The promise the service enforces. Thank you.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D6E78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Data model in one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7490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Table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Holds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5BD6"/>
                          </a:solidFill>
                          <a:latin typeface="Helvetica Neue"/>
                        </a:rPr>
                        <a:t>Key property</a:t>
                      </a:r>
                    </a:p>
                  </a:txBody>
                  <a:tcPr marL="73152" marR="73152" marT="36576" marB="36576">
                    <a:solidFill>
                      <a:srgbClr val="EEEE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ckg.repos / commits / commit_files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which blob sat at which path in which commit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content-addressed; renames are cache hits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ckg.blobs / blob_facts / blob_text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one file's bytes, its parsed facts per extractor version, its source text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parsed once per content, stored once, ever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ckg.entities / edges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facts and relationships, per commit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append-only; unique on (repo, commit, kind, fqn)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ckg.ref_history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which commit each branch pointed at, when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the latest row is 'current' for that branch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ckg.embeddings / doc_chunks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vectors for entity cards and document passages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text-hash keyed; identical cards copy vectors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live.* (12 tables) + config_index, search_index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read-only mirror of UAT and its semantic indexes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allow-listed columns; refreshed every 60 s</a:t>
                      </a:r>
                    </a:p>
                  </a:txBody>
                  <a:tcPr marL="73152" marR="73152" marT="36576" marB="36576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ckg.users / sessions / chats / chat_turns / ask_log / triage_feedback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accounts, sessions, saved chats, audit, feedback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61A"/>
                          </a:solidFill>
                          <a:latin typeface="Helvetica Neue"/>
                        </a:rPr>
                        <a:t>service-only; revoked from the model's role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5BD6"/>
                </a:solidFill>
                <a:latin typeface="Helvetica Neue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6161A"/>
                </a:solidFill>
                <a:latin typeface="Helvetica Neue"/>
              </a:rPr>
              <a:t>Commands a maintainer actually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4572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A9BA3"/>
                </a:solidFill>
                <a:latin typeface="Helvetica Neue"/>
              </a:rPr>
              <a:t>Procol · Code Knowledge Graph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A9BA3"/>
                </a:solidFill>
                <a:latin typeface="Helvetica Neue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npm run index </a:t>
            </a:r>
            <a:r>
              <a:rPr sz="1200">
                <a:solidFill>
                  <a:srgbClr val="16161A"/>
                </a:solidFill>
                <a:latin typeface="Helvetica Neue"/>
              </a:rPr>
              <a:t>-- --repo-dir ../procol-backend --ref origin/main-uat-test --tenant shared --env uat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npm run embed </a:t>
            </a:r>
            <a:r>
              <a:rPr sz="1200">
                <a:solidFill>
                  <a:srgbClr val="16161A"/>
                </a:solidFill>
                <a:latin typeface="Helvetica Neue"/>
              </a:rPr>
              <a:t>(all current branches; identical cards copy their vectors)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npm run sync:live:once </a:t>
            </a:r>
            <a:r>
              <a:rPr sz="1200">
                <a:solidFill>
                  <a:srgbClr val="16161A"/>
                </a:solidFill>
                <a:latin typeface="Helvetica Neue"/>
              </a:rPr>
              <a:t>(one mirror pass; the VM runs it as a service every 60 s)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npm run migrate </a:t>
            </a:r>
            <a:r>
              <a:rPr sz="1200">
                <a:solidFill>
                  <a:srgbClr val="16161A"/>
                </a:solidFill>
                <a:latin typeface="Helvetica Neue"/>
              </a:rPr>
              <a:t>(001–019, idempotent)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880" y="1554480"/>
            <a:ext cx="5364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Helvetica Neue"/>
              </a:rPr>
              <a:t>People and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880" y="1938528"/>
            <a:ext cx="536448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npm run users -- add &lt;email&gt; &lt;role&gt; "Name" </a:t>
            </a:r>
            <a:r>
              <a:rPr sz="1200">
                <a:solidFill>
                  <a:srgbClr val="16161A"/>
                </a:solidFill>
                <a:latin typeface="Helvetica Neue"/>
              </a:rPr>
              <a:t>prints a generated password once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npm run users -- role &lt;email&gt; qa </a:t>
            </a:r>
            <a:r>
              <a:rPr sz="1200">
                <a:solidFill>
                  <a:srgbClr val="16161A"/>
                </a:solidFill>
                <a:latin typeface="Helvetica Neue"/>
              </a:rPr>
              <a:t>applies on the next request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npm test </a:t>
            </a:r>
            <a:r>
              <a:rPr sz="1200">
                <a:solidFill>
                  <a:srgbClr val="16161A"/>
                </a:solidFill>
                <a:latin typeface="Helvetica Neue"/>
              </a:rPr>
              <a:t>67 tests · npm run eval · node src/eval-triage.mjs --role cs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5BD6"/>
                </a:solidFill>
                <a:latin typeface="Helvetica Neue"/>
              </a:rPr>
              <a:t>• </a:t>
            </a:r>
            <a:r>
              <a:rPr b="1" sz="1200">
                <a:solidFill>
                  <a:srgbClr val="16161A"/>
                </a:solidFill>
                <a:latin typeface="Helvetica Neue"/>
              </a:rPr>
              <a:t>node src/ingest-doc.mjs --file guide.md --tags approvals --owner "CS" </a:t>
            </a:r>
            <a:r>
              <a:rPr sz="1200">
                <a:solidFill>
                  <a:srgbClr val="16161A"/>
                </a:solidFill>
                <a:latin typeface="Helvetica Neue"/>
              </a:rPr>
              <a:t>adds a business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A9BA3"/>
                </a:solidFill>
                <a:latin typeface="Helvetica Neue"/>
              </a:rPr>
              <a:t>Full runbooks: docs/VM_SETUP.md, VM_UPDATE.md, CKG_INDEXING.md, AUTH.md, CHATS.md, TRIAGE.md, DOCS_INGEST.md.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